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Five regions are above target, led by Riyadh and Makkah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%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96A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Riyadh</c:v>
                  </c:pt>
                  <c:pt idx="1">
                    <c:v>Makkah</c:v>
                  </c:pt>
                  <c:pt idx="2">
                    <c:v>Eastern Province</c:v>
                  </c:pt>
                  <c:pt idx="3">
                    <c:v>Madinah</c:v>
                  </c:pt>
                  <c:pt idx="4">
                    <c:v>Qassim</c:v>
                  </c:pt>
                  <c:pt idx="5">
                    <c:v>National KPI</c:v>
                  </c:pt>
                  <c:pt idx="6">
                    <c:v>Target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70.751</c:v>
                </c:pt>
                <c:pt idx="1">
                  <c:v>70.698</c:v>
                </c:pt>
                <c:pt idx="2">
                  <c:v>68.703</c:v>
                </c:pt>
                <c:pt idx="3">
                  <c:v>68.232</c:v>
                </c:pt>
                <c:pt idx="4">
                  <c:v>66.106</c:v>
                </c:pt>
                <c:pt idx="5">
                  <c:v>66.2</c:v>
                </c:pt>
                <c:pt idx="6">
                  <c:v>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b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adoption %</c:v>
                </c:pt>
              </c:strCache>
            </c:strRef>
          </c:tx>
          <c:spPr>
            <a:solidFill>
              <a:srgbClr val="4E79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E79A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  <c:pt idx="8">
                    <c:v>Qassim</c:v>
                  </c:pt>
                  <c:pt idx="9">
                    <c:v>Madinah</c:v>
                  </c:pt>
                  <c:pt idx="10">
                    <c:v>Eastern Province</c:v>
                  </c:pt>
                  <c:pt idx="11">
                    <c:v>Makkah</c:v>
                  </c:pt>
                  <c:pt idx="12">
                    <c:v>Riyadh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60.864</c:v>
                </c:pt>
                <c:pt idx="1">
                  <c:v>62.7</c:v>
                </c:pt>
                <c:pt idx="2">
                  <c:v>62.781</c:v>
                </c:pt>
                <c:pt idx="3">
                  <c:v>63.029</c:v>
                </c:pt>
                <c:pt idx="4">
                  <c:v>64.358</c:v>
                </c:pt>
                <c:pt idx="5">
                  <c:v>64.485</c:v>
                </c:pt>
                <c:pt idx="6">
                  <c:v>64.742</c:v>
                </c:pt>
                <c:pt idx="7">
                  <c:v>64.822</c:v>
                </c:pt>
                <c:pt idx="8">
                  <c:v>66.106</c:v>
                </c:pt>
                <c:pt idx="9">
                  <c:v>68.232</c:v>
                </c:pt>
                <c:pt idx="10">
                  <c:v>68.703</c:v>
                </c:pt>
                <c:pt idx="11">
                  <c:v>70.698</c:v>
                </c:pt>
                <c:pt idx="12">
                  <c:v>70.751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65% target</c:v>
                </c:pt>
              </c:strCache>
            </c:strRef>
          </c:tx>
          <c:spPr>
            <a:solidFill>
              <a:srgbClr val="1B2333"/>
            </a:solidFill>
            <a:ln w="25400" cap="flat">
              <a:solidFill>
                <a:srgbClr val="1B2333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2333"/>
              </a:solidFill>
              <a:ln w="9525" cap="flat">
                <a:solidFill>
                  <a:srgbClr val="1B2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  <c:pt idx="8">
                    <c:v>Qassim</c:v>
                  </c:pt>
                  <c:pt idx="9">
                    <c:v>Madinah</c:v>
                  </c:pt>
                  <c:pt idx="10">
                    <c:v>Eastern Province</c:v>
                  </c:pt>
                  <c:pt idx="11">
                    <c:v>Makkah</c:v>
                  </c:pt>
                  <c:pt idx="12">
                    <c:v>Riyadh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65</c:v>
                </c:pt>
                <c:pt idx="1">
                  <c:v>65</c:v>
                </c:pt>
                <c:pt idx="2">
                  <c:v>65</c:v>
                </c:pt>
                <c:pt idx="3">
                  <c:v>65</c:v>
                </c:pt>
                <c:pt idx="4">
                  <c:v>65</c:v>
                </c:pt>
                <c:pt idx="5">
                  <c:v>65</c:v>
                </c:pt>
                <c:pt idx="6">
                  <c:v>65</c:v>
                </c:pt>
                <c:pt idx="7">
                  <c:v>65</c:v>
                </c:pt>
                <c:pt idx="8">
                  <c:v>65</c:v>
                </c:pt>
                <c:pt idx="9">
                  <c:v>65</c:v>
                </c:pt>
                <c:pt idx="10">
                  <c:v>65</c:v>
                </c:pt>
                <c:pt idx="11">
                  <c:v>65</c:v>
                </c:pt>
                <c:pt idx="12">
                  <c:v>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3A44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55"/>
        </c:scaling>
        <c:delete val="0"/>
        <c:axPos val="l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Percentage points needed to reach 65%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to 65% (pts)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96A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C96A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C96A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C96A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4.14</c:v>
                </c:pt>
                <c:pt idx="1">
                  <c:v>2.3</c:v>
                </c:pt>
                <c:pt idx="2">
                  <c:v>2.22</c:v>
                </c:pt>
                <c:pt idx="3">
                  <c:v>1.97</c:v>
                </c:pt>
                <c:pt idx="4">
                  <c:v>0.64</c:v>
                </c:pt>
                <c:pt idx="5">
                  <c:v>0.52</c:v>
                </c:pt>
                <c:pt idx="6">
                  <c:v>0.26</c:v>
                </c:pt>
                <c:pt idx="7">
                  <c:v>0.18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3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333"/>
                </a:solidFill>
                <a:latin typeface="+mn-lt"/>
              </a:rPr>
              <a:t>Proposed allocation (SAR millions, total 40.0)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 M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6B9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6B9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6B97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6B97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Najran</c:v>
                  </c:pt>
                  <c:pt idx="1">
                    <c:v>Northern Borders</c:v>
                  </c:pt>
                  <c:pt idx="2">
                    <c:v>Al-Baha</c:v>
                  </c:pt>
                  <c:pt idx="3">
                    <c:v>Jazan</c:v>
                  </c:pt>
                  <c:pt idx="4">
                    <c:v>Asir</c:v>
                  </c:pt>
                  <c:pt idx="5">
                    <c:v>Tabuk</c:v>
                  </c:pt>
                  <c:pt idx="6">
                    <c:v>Hail</c:v>
                  </c:pt>
                  <c:pt idx="7">
                    <c:v>Al-Jouf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13.5</c:v>
                </c:pt>
                <c:pt idx="1">
                  <c:v>7.5</c:v>
                </c:pt>
                <c:pt idx="2">
                  <c:v>7.5</c:v>
                </c:pt>
                <c:pt idx="3">
                  <c:v>6</c:v>
                </c:pt>
                <c:pt idx="4">
                  <c:v>2</c:v>
                </c:pt>
                <c:pt idx="5">
                  <c:v>1.5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45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9525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8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Ahmed Ali Alqahtani · 0:00–0:30
State the ask in the first 30 seconds: approve a gap-weighted SAR 40M allocation to the 8 regions below 65%, with a 6-month checkpoint. Then preview: the country is on target overall, but 8 of 13 regions are not — and four of them hold almost all of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Ahmed Ali Alqahtani · 0:30–1:15
Orient first: left is the national KPI from the dashboard, right compares it with the five regions above target. National adoption is 66.2%, 1.2 points above the 65% target. Riyadh (70.8%) and Makkah (70.7%) lead. Note: the dashboard shows the current snapshot; the national figure is above target, so the issue is distribution, not the national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Mohammed Al-Ateeq · 1:15–2:00
Orient: each bar is a region, sorted lowest to highest; blue bars are below the dashed 65% line, orange are on or above. Then the message: 8 of 13 regions — Najran, Northern Borders, Al-Baha, Jazan, Asir, Tabuk, Hail, Al-Jouf — are below target. The spread from Najran to Riyadh is almost 10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Mohammed Al-Ateeq · 2:00–4:00
Orient: this chart only shows the 8 regions below target; bar length is how many points each needs to reach 65% (from the dashboard values). Then the message: the total gap is 12.2 points; Najran, Northern Borders, Al-Baha and Jazan hold 10.6 of them (87%), Najran alone 4.1 (34%). The other four are each within 0.65 points — they are close enough to be quick wins. This is why one flat number per region would be the wrong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Ziyad Al-humayd · 4:00–5:00
Walk left to right. A is simple but ignores the evidence — Najran's gap is 23 times Al-Jouf's. B targets the biggest gaps but risks leaving four regions stuck just below 65%. C weights the money by the size of each region's gap and covers all eight. Acknowledge: the dashboard does not include population or cost-per-point data, so the weighting uses the adoption gap as the best available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Ziyad Al-humayd · 5:00–6:15
Orient: bars are the proposed SAR millions per region; dark orange is Tier 1, light orange Tier 2. Message: we recommend Option C. Tier 1 gets SAR 34.5M (Najran 13.5, Northern Borders 7.5, Al-Baha 7.5, Jazan 6.0); Tier 2 gets SAR 5.5M (Asir 2.0, Tabuk 1.5, Hail 1.0, Al-Jouf 1.0). Each share tracks that region's share of the total gap, so the recommendation is traceable straight back to the dashboard. Expected effect: Tier 2 crosses 65% first; Tier 1 closes the larger gaps over 12 months. Uncertainty: the cost of one adoption point may differ by region — the checkpoint on the next slide handles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Ziyad Al-humayd · 6:15–7:00
Restate the ask exactly: approve the gap-weighted SAR 40M allocation today. Next steps: launch within 90 days with Tier 2 funded in full and half of Tier 1; checkpoint in April 2027 using the same Tableau dashboard; release the rest of Tier 1 where gains are proven, aiming for all 13 regions at or above 65% by October 2027. Close by returning to the Big Idea: the national average hides eight lagging regions — gap-weighted funding closes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Tayseer Digital Adoption dashboard (Tableau Public) · Target = 65%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BLUF · THE ASK</a:t>
            </a:r>
            <a:endParaRPr lang="en-US" sz="14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Presenter: Ahmed Ali Alqahtani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the SAR 40M to the 8 regions below 65% — weighted to the biggest gaps</a:t>
            </a:r>
            <a:endParaRPr lang="en-US" sz="3800" dirty="0"/>
          </a:p>
        </p:txBody>
      </p:sp>
      <p:sp>
        <p:nvSpPr>
          <p:cNvPr id="5" name="Ask box"/>
          <p:cNvSpPr/>
          <p:nvPr/>
        </p:nvSpPr>
        <p:spPr>
          <a:xfrm>
            <a:off x="640080" y="2606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22335A"/>
          </a:solidFill>
          <a:ln w="12700">
            <a:solidFill>
              <a:srgbClr val="22335A"/>
            </a:solidFill>
            <a:prstDash val="solid"/>
          </a:ln>
        </p:spPr>
      </p:sp>
      <p:sp>
        <p:nvSpPr>
          <p:cNvPr id="6" name="Ask text"/>
          <p:cNvSpPr txBox="1"/>
          <p:nvPr/>
        </p:nvSpPr>
        <p:spPr>
          <a:xfrm>
            <a:off x="914400" y="26974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We ask you to approve: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gap-weighted SAR 40M allocation — SAR 34.5M to Najran, Northern Borders, Al-Baha and Jazan, and SAR 5.5M to Asir, Tabuk, Hail and Al-Jouf — with a 6-month checkpoint.</a:t>
            </a:r>
            <a:endParaRPr lang="en-US" sz="1800" dirty="0"/>
          </a:p>
        </p:txBody>
      </p:sp>
      <p:sp>
        <p:nvSpPr>
          <p:cNvPr id="7" name="Stat 1"/>
          <p:cNvSpPr txBox="1"/>
          <p:nvPr/>
        </p:nvSpPr>
        <p:spPr>
          <a:xfrm>
            <a:off x="64008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66.2%</a:t>
            </a:r>
            <a:endParaRPr lang="en-US" sz="4800" dirty="0"/>
          </a:p>
        </p:txBody>
      </p:sp>
      <p:sp>
        <p:nvSpPr>
          <p:cNvPr id="8" name="Stat label 1"/>
          <p:cNvSpPr txBox="1"/>
          <p:nvPr/>
        </p:nvSpPr>
        <p:spPr>
          <a:xfrm>
            <a:off x="640080" y="4983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national adoption — above the 65% target</a:t>
            </a:r>
            <a:endParaRPr lang="en-US" sz="1500" dirty="0"/>
          </a:p>
        </p:txBody>
      </p:sp>
      <p:sp>
        <p:nvSpPr>
          <p:cNvPr id="9" name="Stat 2"/>
          <p:cNvSpPr txBox="1"/>
          <p:nvPr/>
        </p:nvSpPr>
        <p:spPr>
          <a:xfrm>
            <a:off x="434340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of 13</a:t>
            </a:r>
            <a:endParaRPr lang="en-US" sz="4800" dirty="0"/>
          </a:p>
        </p:txBody>
      </p:sp>
      <p:sp>
        <p:nvSpPr>
          <p:cNvPr id="10" name="Stat label 2"/>
          <p:cNvSpPr txBox="1"/>
          <p:nvPr/>
        </p:nvSpPr>
        <p:spPr>
          <a:xfrm>
            <a:off x="4343400" y="4983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regions still below 65%</a:t>
            </a:r>
            <a:endParaRPr lang="en-US" sz="1500" dirty="0"/>
          </a:p>
        </p:txBody>
      </p:sp>
      <p:sp>
        <p:nvSpPr>
          <p:cNvPr id="11" name="Stat 3"/>
          <p:cNvSpPr txBox="1"/>
          <p:nvPr/>
        </p:nvSpPr>
        <p:spPr>
          <a:xfrm>
            <a:off x="804672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pts</a:t>
            </a:r>
            <a:endParaRPr lang="en-US" sz="4800" dirty="0"/>
          </a:p>
        </p:txBody>
      </p:sp>
      <p:sp>
        <p:nvSpPr>
          <p:cNvPr id="12" name="Stat label 3"/>
          <p:cNvSpPr txBox="1"/>
          <p:nvPr/>
        </p:nvSpPr>
        <p:spPr>
          <a:xfrm>
            <a:off x="8046720" y="4983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largest gap (Najran, 60.9%)</a:t>
            </a:r>
            <a:endParaRPr lang="en-US" sz="1500" dirty="0"/>
          </a:p>
        </p:txBody>
      </p:sp>
      <p:sp>
        <p:nvSpPr>
          <p:cNvPr id="13" name="Big idea"/>
          <p:cNvSpPr txBox="1"/>
          <p:nvPr/>
        </p:nvSpPr>
        <p:spPr>
          <a:xfrm>
            <a:off x="640080" y="55778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Big Idea: The national average hides eight lagging regions; a gap-weighted SAR 40M is the fastest route to every region reaching 65%.</a:t>
            </a:r>
            <a:endParaRPr lang="en-US" sz="1400" dirty="0"/>
          </a:p>
        </p:txBody>
      </p:sp>
      <p:sp>
        <p:nvSpPr>
          <p:cNvPr id="14" name="Team"/>
          <p:cNvSpPr txBox="1"/>
          <p:nvPr/>
        </p:nvSpPr>
        <p:spPr>
          <a:xfrm>
            <a:off x="640080" y="62362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Ahmed Ali Alqahtani  ·  Mohammed Al-Ateeq  ·  Ziyad Al-humayd   |   SDAIA Academy · SDA-DSC-112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SITUATION · Q1 NATIONAL STATUS</a:t>
            </a:r>
            <a:endParaRPr lang="en-US" sz="13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878"/>
                </a:solidFill>
              </a:rPr>
              <a:t>Presenter: Ahmed Ali Alqahtani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Nationally, Tayseer is on track: 66.2% adoption clears the 65% target</a:t>
            </a:r>
            <a:endParaRPr lang="en-US" sz="3000" dirty="0"/>
          </a:p>
        </p:txBody>
      </p:sp>
      <p:sp>
        <p:nvSpPr>
          <p:cNvPr id="5" name="KPI card"/>
          <p:cNvSpPr/>
          <p:nvPr/>
        </p:nvSpPr>
        <p:spPr>
          <a:xfrm>
            <a:off x="64008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878"/>
                </a:solidFill>
              </a:rPr>
              <a:t>NATIONAL DIGITAL ADOPTION</a:t>
            </a:r>
            <a:endParaRPr lang="en-US" sz="1300" dirty="0"/>
          </a:p>
        </p:txBody>
      </p:sp>
      <p:sp>
        <p:nvSpPr>
          <p:cNvPr id="7" name="KPI value"/>
          <p:cNvSpPr txBox="1"/>
          <p:nvPr/>
        </p:nvSpPr>
        <p:spPr>
          <a:xfrm>
            <a:off x="914400" y="2560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66.2%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+1.2 pts above the 65% target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389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456"/>
                </a:solidFill>
              </a:rPr>
              <a:t>The headline KPI says the program is working at national level — the question is whether that holds everywhere.</a:t>
            </a:r>
            <a:endParaRPr lang="en-US" sz="1500" dirty="0"/>
          </a:p>
        </p:txBody>
      </p:sp>
      <p:graphicFrame>
        <p:nvGraphicFramePr>
          <p:cNvPr id="10" name="Leaders chart" descr=""/>
          <p:cNvGraphicFramePr/>
          <p:nvPr/>
        </p:nvGraphicFramePr>
        <p:xfrm>
          <a:off x="5303520" y="182880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COMPLICATION · Q2 REGIONAL GAP</a:t>
            </a:r>
            <a:endParaRPr lang="en-US" sz="13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878"/>
                </a:solidFill>
              </a:rPr>
              <a:t>Presenter: Mohammed Al-Ateeq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average hides the gap: 8 of 13 regions are below 65%</a:t>
            </a:r>
            <a:endParaRPr lang="en-US" sz="3000" dirty="0"/>
          </a:p>
        </p:txBody>
      </p:sp>
      <p:graphicFrame>
        <p:nvGraphicFramePr>
          <p:cNvPr id="5" name="Regional chart" descr=""/>
          <p:cNvGraphicFramePr/>
          <p:nvPr/>
        </p:nvGraphicFramePr>
        <p:xfrm>
          <a:off x="640080" y="1737360"/>
          <a:ext cx="76809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6878"/>
                </a:solidFill>
              </a:rPr>
              <a:t>Dashed line = 65% target</a:t>
            </a:r>
            <a:endParaRPr lang="en-US" sz="1100" dirty="0"/>
          </a:p>
        </p:txBody>
      </p:sp>
      <p:sp>
        <p:nvSpPr>
          <p:cNvPr id="7" name="Takeaway card"/>
          <p:cNvSpPr/>
          <p:nvPr/>
        </p:nvSpPr>
        <p:spPr>
          <a:xfrm>
            <a:off x="8686800" y="1737360"/>
            <a:ext cx="2834640" cy="438912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61120" y="2057400"/>
            <a:ext cx="201168" cy="201168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53728" y="19933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Below target (8)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961120" y="2468880"/>
            <a:ext cx="201168" cy="20116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253728" y="240487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33"/>
                </a:solidFill>
              </a:rPr>
              <a:t>On / above target (5)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3063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 pts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0" y="37490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456"/>
                </a:solidFill>
              </a:rPr>
              <a:t>spread between Riyadh (70.8%) and Najran (60.9%)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Every lagging region is outside the big three urban centers — the national figure is carried by Riyadh, Makkah and the Eastern Province.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EVIDENCE · Q2 + Q3</a:t>
            </a:r>
            <a:endParaRPr lang="en-US" sz="13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878"/>
                </a:solidFill>
              </a:rPr>
              <a:t>Presenter: Mohammed Al-Ateeq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regions hold 87% of the total gap to target — Najran alone holds a third</a:t>
            </a:r>
            <a:endParaRPr lang="en-US" sz="3000" dirty="0"/>
          </a:p>
        </p:txBody>
      </p:sp>
      <p:graphicFrame>
        <p:nvGraphicFramePr>
          <p:cNvPr id="5" name="Gap chart" descr=""/>
          <p:cNvGraphicFramePr/>
          <p:nvPr/>
        </p:nvGraphicFramePr>
        <p:xfrm>
          <a:off x="640080" y="17373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ier 1 card"/>
          <p:cNvSpPr/>
          <p:nvPr/>
        </p:nvSpPr>
        <p:spPr>
          <a:xfrm>
            <a:off x="795528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83880" y="1984248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77072" y="1920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Tier 1 — deep gaps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3957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4456"/>
                </a:solidFill>
              </a:rPr>
              <a:t>Najran 4.14 · Northern Borders 2.30 · Al-Baha 2.22 · Jazan 1.97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9443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10.6 of 12.2 gap points (87%). These regions will not cross 65% without sustained investment.</a:t>
            </a:r>
            <a:endParaRPr lang="en-US" sz="1300" dirty="0"/>
          </a:p>
        </p:txBody>
      </p:sp>
      <p:sp>
        <p:nvSpPr>
          <p:cNvPr id="11" name="Tier 2 card"/>
          <p:cNvSpPr/>
          <p:nvPr/>
        </p:nvSpPr>
        <p:spPr>
          <a:xfrm>
            <a:off x="795528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83880" y="4224528"/>
            <a:ext cx="274320" cy="274320"/>
          </a:xfrm>
          <a:prstGeom prst="ellipse">
            <a:avLst/>
          </a:prstGeom>
          <a:solidFill>
            <a:srgbClr val="8C96A8"/>
          </a:solidFill>
          <a:ln w="12700">
            <a:solidFill>
              <a:srgbClr val="8C96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77072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Tier 2 — near target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4636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4456"/>
                </a:solidFill>
              </a:rPr>
              <a:t>Asir 0.64 · Tabuk 0.52 · Hail 0.26 · Al-Jouf 0.18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51846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All within 0.65 pts. Small, targeted spend should tip them over — quick wins.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OPTIONS · Q3 INVESTMENT PRIORITY</a:t>
            </a:r>
            <a:endParaRPr lang="en-US" sz="13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878"/>
                </a:solidFill>
              </a:rPr>
              <a:t>Presenter: Ziyad Al-humayd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realistic ways to deploy SAR 40M — only one funds the gap where it is</a:t>
            </a:r>
            <a:endParaRPr lang="en-US" sz="3000" dirty="0"/>
          </a:p>
        </p:txBody>
      </p:sp>
      <p:sp>
        <p:nvSpPr>
          <p:cNvPr id="5" name="Option A card"/>
          <p:cNvSpPr/>
          <p:nvPr/>
        </p:nvSpPr>
        <p:spPr>
          <a:xfrm>
            <a:off x="640080" y="178308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8C96A8"/>
          </a:solidFill>
          <a:ln w="12700">
            <a:solidFill>
              <a:srgbClr val="8C96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Spread evenly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456"/>
                </a:solidFill>
              </a:rPr>
              <a:t>SAR 5M to each of the 8 below-target regions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56616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Simple and easy to explain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Najran gets the same as Al-Jouf, despite a gap 23× larger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Over-funds the near-target regions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8"/>
                </a:solidFill>
              </a:rPr>
              <a:t>Weak fit to evidence</a:t>
            </a:r>
            <a:endParaRPr lang="en-US" sz="1500" dirty="0"/>
          </a:p>
        </p:txBody>
      </p:sp>
      <p:sp>
        <p:nvSpPr>
          <p:cNvPr id="12" name="Option B card"/>
          <p:cNvSpPr/>
          <p:nvPr/>
        </p:nvSpPr>
        <p:spPr>
          <a:xfrm>
            <a:off x="4343400" y="1783080"/>
            <a:ext cx="3474720" cy="43434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Concentrate on Tier 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456"/>
                </a:solidFill>
              </a:rPr>
              <a:t>SAR 10M each to Najran, Northern Borders, Al-Baha, Jazan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56616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Targets 87% of the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Leaves Asir, Tabuk, Hail, Al-Jouf at risk of staying just under 65%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Equal split ignores Najran's larger gap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6878"/>
                </a:solidFill>
              </a:rPr>
              <a:t>Partial fit</a:t>
            </a:r>
            <a:endParaRPr lang="en-US" sz="1500" dirty="0"/>
          </a:p>
        </p:txBody>
      </p:sp>
      <p:sp>
        <p:nvSpPr>
          <p:cNvPr id="19" name="Option C card"/>
          <p:cNvSpPr/>
          <p:nvPr/>
        </p:nvSpPr>
        <p:spPr>
          <a:xfrm>
            <a:off x="8046720" y="1783080"/>
            <a:ext cx="3474720" cy="4343400"/>
          </a:xfrm>
          <a:prstGeom prst="roundRect">
            <a:avLst>
              <a:gd name="adj" fmla="val 2105"/>
            </a:avLst>
          </a:prstGeom>
          <a:solidFill>
            <a:srgbClr val="FEF3E8"/>
          </a:solidFill>
          <a:ln w="12700">
            <a:solidFill>
              <a:srgbClr val="FEF3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Gap-weighted, two tiers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788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456"/>
                </a:solidFill>
              </a:rPr>
              <a:t>SAR 34.5M to Tier 1, SAR 5.5M to Tier 2 — in proportion to each gap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566160"/>
            <a:ext cx="2926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Money follows the size of each gap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Covers all 8 regions, incl. quick wins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456"/>
                </a:solidFill>
              </a:rPr>
              <a:t>Needs a checkpoint to confirm progress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5486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5F12"/>
                </a:solidFill>
              </a:rPr>
              <a:t>Best fit to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RECOMMENDATION · Q3</a:t>
            </a:r>
            <a:endParaRPr lang="en-US" sz="13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E6878"/>
                </a:solidFill>
              </a:rPr>
              <a:t>Presenter: Ziyad Al-humayd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685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Option C: weight SAR 40M by gap so every region can reach 65%</a:t>
            </a:r>
            <a:endParaRPr lang="en-US" sz="3000" dirty="0"/>
          </a:p>
        </p:txBody>
      </p:sp>
      <p:graphicFrame>
        <p:nvGraphicFramePr>
          <p:cNvPr id="5" name="Allocation chart" descr=""/>
          <p:cNvGraphicFramePr/>
          <p:nvPr/>
        </p:nvGraphicFramePr>
        <p:xfrm>
          <a:off x="640080" y="173736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Why 1"/>
          <p:cNvSpPr/>
          <p:nvPr/>
        </p:nvSpPr>
        <p:spPr>
          <a:xfrm>
            <a:off x="7589520" y="1737360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1812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Traceable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240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Each region's share ≈ its share of the 12.2-pt total gap (e.g. Najran 34% of gap → SAR 13.5M).</a:t>
            </a:r>
            <a:endParaRPr lang="en-US" sz="1300" dirty="0"/>
          </a:p>
        </p:txBody>
      </p:sp>
      <p:sp>
        <p:nvSpPr>
          <p:cNvPr id="9" name="Why 2"/>
          <p:cNvSpPr/>
          <p:nvPr/>
        </p:nvSpPr>
        <p:spPr>
          <a:xfrm>
            <a:off x="7589520" y="3218688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18120" y="3355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72160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All 8 below-target regions are funded — none is left just under 65%.</a:t>
            </a:r>
            <a:endParaRPr lang="en-US" sz="1300" dirty="0"/>
          </a:p>
        </p:txBody>
      </p:sp>
      <p:sp>
        <p:nvSpPr>
          <p:cNvPr id="12" name="Why 3"/>
          <p:cNvSpPr/>
          <p:nvPr/>
        </p:nvSpPr>
        <p:spPr>
          <a:xfrm>
            <a:off x="7589520" y="4700016"/>
            <a:ext cx="39319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18120" y="4837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Expected effect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818120" y="5202936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4456"/>
                </a:solidFill>
              </a:rPr>
              <a:t>Tier 2 should cross 65% first (≤0.65 pts to go); Tier 1 closes the remaining 10.6 pts over 12 months → 13 of 13 regions on target.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68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THE ASK + NEXT STEP</a:t>
            </a:r>
            <a:endParaRPr lang="en-US" sz="1400" dirty="0"/>
          </a:p>
        </p:txBody>
      </p:sp>
      <p:sp>
        <p:nvSpPr>
          <p:cNvPr id="3" name="Presenter"/>
          <p:cNvSpPr txBox="1"/>
          <p:nvPr/>
        </p:nvSpPr>
        <p:spPr>
          <a:xfrm>
            <a:off x="69494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Presenter: Ziyad Al-humayd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9144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gap-weighted SAR 40M today; we report back at a 6-month checkpoint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80160" y="2994660"/>
            <a:ext cx="2011680" cy="0"/>
          </a:xfrm>
          <a:prstGeom prst="line">
            <a:avLst/>
          </a:prstGeom>
          <a:noFill/>
          <a:ln w="19050">
            <a:solidFill>
              <a:srgbClr val="4A5A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Oct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06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SAR 40M, gap-weighted across 8 regions (34.5M Tier 1 · 5.5M Tier 2)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069080" y="2994660"/>
            <a:ext cx="2011680" cy="0"/>
          </a:xfrm>
          <a:prstGeom prst="line">
            <a:avLst/>
          </a:prstGeom>
          <a:noFill/>
          <a:ln w="19050">
            <a:solidFill>
              <a:srgbClr val="4A5A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0–90 days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206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Release Tier 2 in full and 50% of Tier 1; regional teams set adoption plans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58000" y="2994660"/>
            <a:ext cx="2011680" cy="0"/>
          </a:xfrm>
          <a:prstGeom prst="line">
            <a:avLst/>
          </a:prstGeom>
          <a:noFill/>
          <a:ln w="19050">
            <a:solidFill>
              <a:srgbClr val="4A5A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Apr 2027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206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Re-read the Tableau dashboard: is every Tier 2 region ≥ 65%? Is Tier 1 moving?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006840" y="27432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068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Oct 2027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4206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Release the remaining Tier 1 funds where gains are proven → 13 of 13 regions at 65%+</a:t>
            </a:r>
            <a:endParaRPr lang="en-US" sz="1400" dirty="0"/>
          </a:p>
        </p:txBody>
      </p:sp>
      <p:sp>
        <p:nvSpPr>
          <p:cNvPr id="28" name="Closing ask"/>
          <p:cNvSpPr txBox="1"/>
          <p:nvPr/>
        </p:nvSpPr>
        <p:spPr>
          <a:xfrm>
            <a:off x="640080" y="57150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Decision needed today: approve the allocation and the April 2027 checkpoint.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yseer">
  <a:themeElements>
    <a:clrScheme name="Tayseer">
      <a:dk1>
        <a:srgbClr val="1B2333"/>
      </a:dk1>
      <a:lt1>
        <a:srgbClr val="FFFFFF"/>
      </a:lt1>
      <a:dk2>
        <a:srgbClr val="14213D"/>
      </a:dk2>
      <a:lt2>
        <a:srgbClr val="EEF2F7"/>
      </a:lt2>
      <a:accent1>
        <a:srgbClr val="4E79A7"/>
      </a:accent1>
      <a:accent2>
        <a:srgbClr val="F28E2B"/>
      </a:accent2>
      <a:accent3>
        <a:srgbClr val="2E8B57"/>
      </a:accent3>
      <a:accent4>
        <a:srgbClr val="8C96A8"/>
      </a:accent4>
      <a:accent5>
        <a:srgbClr val="C8D3E3"/>
      </a:accent5>
      <a:accent6>
        <a:srgbClr val="FCE3CB"/>
      </a:accent6>
      <a:hlink>
        <a:srgbClr val="2F6DB5"/>
      </a:hlink>
      <a:folHlink>
        <a:srgbClr val="6B4E9B"/>
      </a:folHlink>
    </a:clrScheme>
    <a:fontScheme name="Tayse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Tayseer Digital Adoption — Where to direct SAR 40M</dc:title>
  <dc:subject>PptxGenJS Presentation</dc:subject>
  <dc:creator>Ahmed Alqahtani</dc:creator>
  <cp:lastModifiedBy>Ahmed Alqahtani</cp:lastModifiedBy>
  <cp:revision>1</cp:revision>
  <dcterms:created xsi:type="dcterms:W3CDTF">2026-10-06T16:04:29Z</dcterms:created>
  <dcterms:modified xsi:type="dcterms:W3CDTF">2026-10-06T16:04:29Z</dcterms:modified>
</cp:coreProperties>
</file>